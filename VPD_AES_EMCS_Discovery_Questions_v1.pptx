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9"/>
                </a:solidFill>
                <a:latin typeface="Aptos Display"/>
              </a:defRPr>
            </a:pPr>
            <a:r>
              <a:t>VPD – AES to EMCS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Working question deck for architecture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2860"/>
          </a:xfrm>
          <a:prstGeom prst="rect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0652760" cy="68580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B3049"/>
                </a:solidFill>
                <a:latin typeface="Aptos"/>
              </a:defRPr>
            </a:pPr>
            <a:r>
              <a:t>Objective: understand the business journey and gap before defining the technical 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Current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Vaping Products Duty starts 1 October 2026.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AES is the export-processing capability within CDS.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AES will need information held by EMCS.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There is currently no direct AES → EMCS interface.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CDAP currently synchronises some excise information into the customs domain.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42316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Discovery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79" y="3017520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Separate known facts from assumptions.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Understand current state before target state.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Define use cases and data ownership first.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Make NFRs measurable.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Do not choose REST / messaging / schemas prematurely.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9"/>
                </a:solidFill>
                <a:latin typeface="Aptos Display"/>
              </a:defRPr>
            </a:pPr>
            <a:r>
              <a:t>1. Current-State Export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First establish how the business process works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2860"/>
          </a:xfrm>
          <a:prstGeom prst="rect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68580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B3049"/>
                </a:solidFill>
                <a:latin typeface="Aptos"/>
              </a:defRPr>
            </a:pPr>
            <a:r>
              <a:t>Can we walk through one complete existing excise export from warehouse to exit?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607040" cy="4663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Where do the goods originate and where are they held before export?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Which warehouse types are involved: excise warehouse, customs warehouse, or both?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Who creates the e-AD, and at what point?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When is the ARC generated and how does the exporter / agent obtain it?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How does the ARC get onto the AES export declaration?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What does AES do with excise information today?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How does the process currently work for alcohol, tobacco and energy products without a direct AES–EMCS interface?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What happens after physical exit, and how is the excise movement completed?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9"/>
                </a:solidFill>
                <a:latin typeface="Aptos Display"/>
              </a:defRPr>
            </a:pPr>
            <a:r>
              <a:t>2. VPD Business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Define exactly what changes on 1 October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2860"/>
          </a:xfrm>
          <a:prstGeom prst="rect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68580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B3049"/>
                </a:solidFill>
                <a:latin typeface="Aptos"/>
              </a:defRPr>
            </a:pPr>
            <a:r>
              <a:t>What can AES not do for VPD using today’s process?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Business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79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new VPD information does AES require?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Why is that information required during export processing?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decision will AES make from the response?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Does the requirement apply only to vaping products?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VPD-specific rules differ from existing excise products?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33172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Scope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79" y="2926079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Is VPD simply a new excise product category in EMCS?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Does customs warehousing create a special export scenario?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Is VPD the first use case for a broader AES–EMCS capability?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is explicitly out of scope for October?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is the minimum viable legislative capability?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9"/>
                </a:solidFill>
                <a:latin typeface="Aptos Display"/>
              </a:defRPr>
            </a:pPr>
            <a:r>
              <a:t>3. CDAP and the Existing Integration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Understand what fills the gap today and the strategic direction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2860"/>
          </a:xfrm>
          <a:prstGeom prst="rect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Current state – to confirm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exactly is CDAP and what does it own?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Which EMCS data is synchronised?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Is synchronisation one-way or bidirectional?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Batch, event-driven, or another mechanism?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How fresh is the data?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Which AES decisions currently use CDAP data?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Target state – to confirm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79" y="2194560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Is CDAP formally planned for retirement?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Will VPD bypass CDAP completely?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Will the new interface coexist with CDAP?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Which source is authoritative during coexistence?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Will other excise capabilities later migrate?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Is this effectively a strangler migration?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5074920"/>
            <a:ext cx="1188720" cy="59436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3049"/>
                </a:solidFill>
                <a:latin typeface="Aptos"/>
              </a:defRPr>
            </a:pPr>
            <a:r>
              <a:t>EMCS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40280" y="5230368"/>
            <a:ext cx="228600" cy="256032"/>
          </a:xfrm>
          <a:prstGeom prst="rightArrow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5074920"/>
            <a:ext cx="1188720" cy="594360"/>
          </a:xfrm>
          <a:prstGeom prst="roundRect">
            <a:avLst/>
          </a:prstGeom>
          <a:solidFill>
            <a:srgbClr val="F4F6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3049"/>
                </a:solidFill>
                <a:latin typeface="Aptos"/>
              </a:defRPr>
            </a:pPr>
            <a:r>
              <a:t>CDAP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57600" y="5230368"/>
            <a:ext cx="228600" cy="256032"/>
          </a:xfrm>
          <a:prstGeom prst="rightArrow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86200" y="5074920"/>
            <a:ext cx="1188720" cy="59436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3049"/>
                </a:solidFill>
                <a:latin typeface="Aptos"/>
              </a:defRPr>
            </a:pPr>
            <a:r>
              <a:t>CDS / AES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5074920"/>
            <a:ext cx="1188720" cy="59436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3049"/>
                </a:solidFill>
                <a:latin typeface="Aptos"/>
              </a:defRPr>
            </a:pPr>
            <a:r>
              <a:t>AES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26680" y="5230368"/>
            <a:ext cx="228600" cy="256032"/>
          </a:xfrm>
          <a:prstGeom prst="rightArrow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0" y="5074920"/>
            <a:ext cx="1188720" cy="594360"/>
          </a:xfrm>
          <a:prstGeom prst="roundRect">
            <a:avLst/>
          </a:prstGeom>
          <a:solidFill>
            <a:srgbClr val="F4F6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3049"/>
                </a:solidFill>
                <a:latin typeface="Aptos"/>
              </a:defRPr>
            </a:pPr>
            <a:r>
              <a:t>New EMCS</a:t>
            </a:r>
            <a:br/>
            <a:r>
              <a:t>Interface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44000" y="5230368"/>
            <a:ext cx="228600" cy="256032"/>
          </a:xfrm>
          <a:prstGeom prst="rightArrow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72600" y="5074920"/>
            <a:ext cx="1188720" cy="59436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3049"/>
                </a:solidFill>
                <a:latin typeface="Aptos"/>
              </a:defRPr>
            </a:pPr>
            <a:r>
              <a:t>EMCS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9"/>
                </a:solidFill>
                <a:latin typeface="Aptos Display"/>
              </a:defRPr>
            </a:pPr>
            <a:r>
              <a:t>4. New AES → EMCS Business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Determine the use case before defining the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2860"/>
          </a:xfrm>
          <a:prstGeom prst="rect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68580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B3049"/>
                </a:solidFill>
                <a:latin typeface="Aptos"/>
              </a:defRPr>
            </a:pPr>
            <a:r>
              <a:t>At exactly what point in the AES export journey does AES need EMCS?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607040" cy="4663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What event triggers the interaction?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Every declaration, only VPD declarations, or only specific procedures?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One request per declaration, per ARC, or per goods item?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What identifier(s) does AES have at that point: ARC, EORI, warehouse approval, goods item, other?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Is AES asking EMCS for authoritative data, or asking EMCS to perform a validation?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Does AES perform the final cross-check / decision?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What constitutes a successful business response?</a:t>
            </a:r>
          </a:p>
          <a:p>
            <a:pPr>
              <a:spcAft>
                <a:spcPts val="700"/>
              </a:spcAft>
              <a:defRPr sz="1600">
                <a:solidFill>
                  <a:srgbClr val="23272B"/>
                </a:solidFill>
                <a:latin typeface="Aptos"/>
              </a:defRPr>
            </a:pPr>
            <a:r>
              <a:t>What are the business outcomes for not-found, invalid, mismatched or ineligible data?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9"/>
                </a:solidFill>
                <a:latin typeface="Aptos Display"/>
              </a:defRPr>
            </a:pPr>
            <a:r>
              <a:t>5. Interface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Define the capability and information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2860"/>
          </a:xfrm>
          <a:prstGeom prst="rect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Request /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business object does AES send?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Which fields are mandatory?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uniquely identifies the EMCS record?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does EMCS return?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Raw excise facts or validation outcome?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are the business error semantics?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Contract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79" y="2194560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VPD-specific or general excise-information capability?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One operation or several operations?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existing HMRC interface standards apply?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How will the contract be versioned?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How is backward compatibility maintained?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Could other consumers / product types use it later?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623560"/>
            <a:ext cx="10652760" cy="68580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B3049"/>
                </a:solidFill>
                <a:latin typeface="Aptos"/>
              </a:defRPr>
            </a:pPr>
            <a:r>
              <a:t>Do we optimise only for October, or establish a reusable strategic AES–EMCS contract?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9"/>
                </a:solidFill>
                <a:latin typeface="Aptos Display"/>
              </a:defRPr>
            </a:pPr>
            <a:r>
              <a:t>6. NFRs – Runtime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The new dependency can change the availability of the end-to-end export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2860"/>
          </a:xfrm>
          <a:prstGeom prst="rect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68580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B3049"/>
                </a:solidFill>
                <a:latin typeface="Aptos"/>
              </a:defRPr>
            </a:pPr>
            <a:r>
              <a:t>If AES requires EMCS to continue processing, what happens when EMCS is unavailable?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Performance &amp;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79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Required response-time target / percentile?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Average and peak request volume?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Expected concurrency?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Requests per declaration / ARC / goods item?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Data freshness requirement?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Is caching ever permitted?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33172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Resilience &amp;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79" y="2926079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Timeout value?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Retry policy and backoff?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Pending state or immediate failure?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Idempotency requirements?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Duplicate / late response handling?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Planned maintenance behaviour?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9"/>
                </a:solidFill>
                <a:latin typeface="Aptos Display"/>
              </a:defRPr>
            </a:pPr>
            <a:r>
              <a:t>7. NFRs – Security, Audit and Operability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Make operational requirements explicit and measurable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2860"/>
          </a:xfrm>
          <a:prstGeom prst="rect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Security &amp;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Service authentication mechanism?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Authorisation model?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Encryption in transit?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Sensitive trader / warehouse data?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evidence must be retained?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Retention period and audit requirements?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Observability &amp;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79" y="2194560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End-to-end correlation ID?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Structured logging requirements?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Metrics and dashboards?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Alerting thresholds?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Health / readiness checks?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How will support trace a failed declaration?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623560"/>
            <a:ext cx="10652760" cy="68580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B3049"/>
                </a:solidFill>
                <a:latin typeface="Aptos"/>
              </a:defRPr>
            </a:pPr>
            <a:r>
              <a:t>Can we trace: CDS declaration → AES request → EMCS transaction → response → AES decision?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9"/>
                </a:solidFill>
                <a:latin typeface="Aptos Display"/>
              </a:defRPr>
            </a:pPr>
            <a:r>
              <a:t>8. Delivery and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Understand the critical path created by a fixed legislative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2860"/>
          </a:xfrm>
          <a:prstGeom prst="rect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does ‘October ready’ mean: live, code complete, or technically ready?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How long is Discovery expected to last?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When must the contract be agreed?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Will implementation overlap Discovery?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When does integration testing need to start?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Ownership &amp;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79" y="2194560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Who owns the AES changes?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Who owns the EMCS interface?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Who owns end-to-end testing?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environments are required?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are the external dependencies?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What is currently on the critical path?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623560"/>
            <a:ext cx="10652760" cy="68580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B3049"/>
                </a:solidFill>
                <a:latin typeface="Aptos"/>
              </a:defRPr>
            </a:pPr>
            <a:r>
              <a:t>What is the minimum safe capability that must be live for 1 October 2026?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9"/>
                </a:solidFill>
                <a:latin typeface="Aptos Display"/>
              </a:defRPr>
            </a:pPr>
            <a:r>
              <a:t>9. Discovery Exit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What must be known before we can confidently implement?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2860"/>
          </a:xfrm>
          <a:prstGeom prst="rect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Business / functional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End-to-end use cases agreed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Current-state flow understood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VPD gap explicitly defined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Actors and data ownership agreed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Target sequence agreed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Request / response semantics agreed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212080" cy="457200"/>
          </a:xfrm>
          <a:prstGeom prst="roundRect">
            <a:avLst/>
          </a:prstGeom>
          <a:solidFill>
            <a:srgbClr val="1B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Architecture /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79" y="2194560"/>
            <a:ext cx="502920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NFRs measurable and agreed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Security approach agreed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Integration pattern selected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Failure behaviour agreed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Dependencies and owners identified</a:t>
            </a:r>
          </a:p>
          <a:p>
            <a:pPr>
              <a:spcAft>
                <a:spcPts val="500"/>
              </a:spcAft>
              <a:defRPr sz="1500">
                <a:solidFill>
                  <a:srgbClr val="23272B"/>
                </a:solidFill>
                <a:latin typeface="Aptos"/>
              </a:defRPr>
            </a:pPr>
            <a:r>
              <a:t>Delivery plan supports October 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623560"/>
            <a:ext cx="10652760" cy="685800"/>
          </a:xfrm>
          <a:prstGeom prst="roundRect">
            <a:avLst/>
          </a:prstGeom>
          <a:solidFill>
            <a:srgbClr val="E5EEF8"/>
          </a:solidFill>
          <a:ln>
            <a:solidFill>
              <a:srgbClr val="2E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B3049"/>
                </a:solidFill>
                <a:latin typeface="Aptos"/>
              </a:defRPr>
            </a:pPr>
            <a:r>
              <a:t>What remaining unknowns would prevent us from starting implementation?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9"/>
                </a:solidFill>
                <a:latin typeface="Aptos Display"/>
              </a:defRPr>
            </a:pPr>
            <a:r>
              <a:t>Top Questions for the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If time is limited, get these answered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2860"/>
          </a:xfrm>
          <a:prstGeom prst="rect">
            <a:avLst/>
          </a:prstGeom>
          <a:solidFill>
            <a:srgbClr val="2E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663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t>1. Can we walk through today’s excise export journey and show exactly where VPD changes it?</a:t>
            </a:r>
          </a:p>
          <a:p>
            <a:pPr>
              <a:spcAft>
                <a:spcPts val="12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t>2. What information does AES need from EMCS that it cannot obtain from CDAP / the declaration today?</a:t>
            </a:r>
          </a:p>
          <a:p>
            <a:pPr>
              <a:spcAft>
                <a:spcPts val="12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t>3. Is AES requesting authoritative data, or asking EMCS to perform the excise validation?</a:t>
            </a:r>
          </a:p>
          <a:p>
            <a:pPr>
              <a:spcAft>
                <a:spcPts val="12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t>4. At what exact point in AES processing is the call made, and what identifier drives it?</a:t>
            </a:r>
          </a:p>
          <a:p>
            <a:pPr>
              <a:spcAft>
                <a:spcPts val="12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t>5. What happens to the export declaration when EMCS is unavailable?</a:t>
            </a:r>
          </a:p>
          <a:p>
            <a:pPr>
              <a:spcAft>
                <a:spcPts val="12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t>6. Is VPD a one-off interface, or the first use case in a strategic replacement for CDAP?</a:t>
            </a:r>
          </a:p>
          <a:p>
            <a:pPr>
              <a:spcAft>
                <a:spcPts val="12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t>7. What must Discovery produce, and by when, to make the 1 October 2026 date achievable?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